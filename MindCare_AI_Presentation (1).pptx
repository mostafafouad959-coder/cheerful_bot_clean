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Enthusiasm</c:v>
                  </c:pt>
                  <c:pt idx="1">
                    <c:v>Empty</c:v>
                  </c:pt>
                  <c:pt idx="2">
                    <c:v>Relief</c:v>
                  </c:pt>
                  <c:pt idx="3">
                    <c:v>Love</c:v>
                  </c:pt>
                  <c:pt idx="4">
                    <c:v>Hate</c:v>
                  </c:pt>
                  <c:pt idx="5">
                    <c:v>Anger</c:v>
                  </c:pt>
                  <c:pt idx="6">
                    <c:v>Fun</c:v>
                  </c:pt>
                  <c:pt idx="7">
                    <c:v>Neutral</c:v>
                  </c:pt>
                  <c:pt idx="8">
                    <c:v>Surprise</c:v>
                  </c:pt>
                  <c:pt idx="9">
                    <c:v>Happiness</c:v>
                  </c:pt>
                  <c:pt idx="10">
                    <c:v>Sadness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0.94</c:v>
                </c:pt>
                <c:pt idx="1">
                  <c:v>0.91</c:v>
                </c:pt>
                <c:pt idx="2">
                  <c:v>0.92</c:v>
                </c:pt>
                <c:pt idx="3">
                  <c:v>0.91</c:v>
                </c:pt>
                <c:pt idx="4">
                  <c:v>0.93</c:v>
                </c:pt>
                <c:pt idx="5">
                  <c:v>0.86</c:v>
                </c:pt>
                <c:pt idx="6">
                  <c:v>0.87</c:v>
                </c:pt>
                <c:pt idx="7">
                  <c:v>0.78</c:v>
                </c:pt>
                <c:pt idx="8">
                  <c:v>0.72</c:v>
                </c:pt>
                <c:pt idx="9">
                  <c:v>0.74</c:v>
                </c:pt>
                <c:pt idx="10">
                  <c:v>0.66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4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b"/>
        <c:majorGridlines>
          <c:spPr>
            <a:ln w="6350" cap="flat">
              <a:solidFill>
                <a:srgbClr val="c9ef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4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FFD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MindCare AI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337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 Bot — Mental Health Support Chatbot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 •  Multilingual  •  AI-Powered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548640"/>
            <a:ext cx="3017520" cy="4023360"/>
          </a:xfrm>
          <a:prstGeom prst="rect">
            <a:avLst/>
          </a:prstGeom>
          <a:solidFill>
            <a:srgbClr val="1A3D34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731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8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09360" y="12161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140817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keyword backup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09360" y="17190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09360" y="191109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AR · FR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2221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Responses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241401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case matching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978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7249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Learning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291693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good answers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978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2278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09360" y="341985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978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37307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83.7% Accuracy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09360" y="392277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39K+ samples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1155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Cheerful Bot?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64592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 Bot is a Streamlit-based mental health chatbot that detects the user's emotion from free-text or voice input, then responds with warm, context-aware support in English, Arabic, or French.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from user feedback via a Case-Based Reasoning (CBR) system and returns warm, context-aware responses powered entirely by its growing knowledge base.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63440" y="1005840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Intelligence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800600" y="14630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11 emotions using ML (TF-IDF + Logistic Regression) with negation tagging and keyword backup.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2240280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377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2350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800600" y="26974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Arabic, French, English. Translates inputs to English for classification, replies in original language.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63440" y="3474720"/>
            <a:ext cx="411480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1188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3584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Response Engine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800600" y="39319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Reasoning retrieves the most similar past interaction and returns a warm, emotion-aware response from the knowledge base.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08760" cy="1417320"/>
          </a:xfrm>
          <a:prstGeom prst="rect">
            <a:avLst/>
          </a:prstGeom>
          <a:solidFill>
            <a:srgbClr val="EFFDF8"/>
          </a:solidFill>
          <a:ln w="1270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4904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2276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Voice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1810512" y="2007108"/>
            <a:ext cx="64008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56232" y="19156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65960" y="1325880"/>
            <a:ext cx="1508760" cy="1417320"/>
          </a:xfrm>
          <a:prstGeom prst="rect">
            <a:avLst/>
          </a:prstGeom>
          <a:solidFill>
            <a:srgbClr val="EFFDF8"/>
          </a:solidFill>
          <a:ln w="1270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172" y="1490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65960" y="2276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AR/FR → EN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502152" y="2007108"/>
            <a:ext cx="64008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47872" y="19156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0" y="1325880"/>
            <a:ext cx="1508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812" y="149047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57600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Engine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657600" y="2276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193792" y="2007108"/>
            <a:ext cx="64008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239512" y="19156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349240" y="1325880"/>
            <a:ext cx="1508760" cy="1417320"/>
          </a:xfrm>
          <a:prstGeom prst="rect">
            <a:avLst/>
          </a:prstGeom>
          <a:solidFill>
            <a:srgbClr val="EFFDF8"/>
          </a:solidFill>
          <a:ln w="1270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52" y="149047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Engine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349240" y="2276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Lookup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885432" y="2007108"/>
            <a:ext cx="64008" cy="5486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931152" y="19156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EAD4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040880" y="1325880"/>
            <a:ext cx="1508760" cy="1417320"/>
          </a:xfrm>
          <a:prstGeom prst="rect">
            <a:avLst/>
          </a:prstGeom>
          <a:solidFill>
            <a:srgbClr val="EFFDF8"/>
          </a:solidFill>
          <a:ln w="1270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092" y="1490472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40880" y="1984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Retain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040880" y="22768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👍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57200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274320" y="3337560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365760" y="33741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streamlit_app.py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365760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Chat interface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2441448" y="3337560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2532888" y="33741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cbr_engine.py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2532888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classify + CBR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608576" y="3337560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4700016" y="33741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cbr_engine.py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700016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classify + CBR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6775704" y="3337560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6867144" y="33741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translator.py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6867144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detect + translate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274320" y="3995928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>
            <a:off x="36576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nlp_cleaner.py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365760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tagging + clean</a:t>
            </a:r>
            <a:endParaRPr lang="en-US" sz="850" dirty="0"/>
          </a:p>
        </p:txBody>
      </p:sp>
      <p:sp>
        <p:nvSpPr>
          <p:cNvPr id="48" name="Shape 41"/>
          <p:cNvSpPr/>
          <p:nvPr/>
        </p:nvSpPr>
        <p:spPr>
          <a:xfrm>
            <a:off x="2441448" y="3995928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2"/>
          <p:cNvSpPr/>
          <p:nvPr/>
        </p:nvSpPr>
        <p:spPr>
          <a:xfrm>
            <a:off x="2532888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responses.py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2532888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Canned therapeutic replies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4608576" y="3995928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45"/>
          <p:cNvSpPr/>
          <p:nvPr/>
        </p:nvSpPr>
        <p:spPr>
          <a:xfrm>
            <a:off x="4700016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4700016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case storage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6775704" y="3995928"/>
            <a:ext cx="2011680" cy="548640"/>
          </a:xfrm>
          <a:prstGeom prst="rect">
            <a:avLst/>
          </a:prstGeom>
          <a:solidFill>
            <a:srgbClr val="EFFDF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48"/>
          <p:cNvSpPr/>
          <p:nvPr/>
        </p:nvSpPr>
        <p:spPr>
          <a:xfrm>
            <a:off x="6867144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sentiment.py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6867144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1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4996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Expansion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824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→ can not, won't → will not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9568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Tagging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396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NOT_happy, NOT_feel (window = 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4323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4140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Stopword Removal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5968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'not', 'never', 'alone'…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8712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Lemmatization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crying → cry, sadness → sadness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3467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3284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5112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features, 1-2 ngrams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8039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37856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9684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emotion + confidence 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261104"/>
            <a:ext cx="27432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52F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2428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Backup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42569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clear emotions if ML unsure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Detected Emotions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1417320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😢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074920" y="14904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Sadness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17647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5,157 samples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1417320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722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😠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537960" y="14904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37960" y="17647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samples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89520" y="1417320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63524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😤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001000" y="14904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01000" y="17647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1,323 samples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2258568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😶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074920" y="23317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74920" y="26060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 samples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26480" y="2258568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172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😰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537960" y="23317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37960" y="26060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8,448 samples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589520" y="2258568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6352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😐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8001000" y="233172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001000" y="26060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8,560 samples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63440" y="3099816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70916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😄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074920" y="31729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74920" y="34472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1,776 samples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26480" y="3099816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17220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😲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6537960" y="31729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537960" y="34472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2,187 samples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589520" y="3099816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763524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001000" y="31729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Enthusiasm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001000" y="344728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759 samples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3941064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7091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😊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5074920" y="40142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74920" y="42885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5,193 samples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26480" y="3941064"/>
            <a:ext cx="1353312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17220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💕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6537960" y="40142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6537960" y="42885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 samples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103120" cy="1417320"/>
          </a:xfrm>
          <a:prstGeom prst="rect">
            <a:avLst/>
          </a:prstGeom>
          <a:solidFill>
            <a:srgbClr val="0F2A24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005840"/>
            <a:ext cx="21031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143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39,653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21031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430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6600" y="1005840"/>
            <a:ext cx="16916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86600" y="1143000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86600" y="1828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by Emotion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999232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6692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0" y="299923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20840" y="299923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Tweet Emotions Dataset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0" y="32461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20840" y="324612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39,653 rows (cleaned from 40K)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69280" y="34930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20840" y="349300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emotion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0" y="373989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720840" y="37398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nulls, no duplicates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69280" y="39867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720840" y="3986784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@mentions, URLs, RT removed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69280" y="42336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720840" y="4233672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669280" y="44805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720840" y="448056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69280" y="47274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20840" y="4727448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dict (11 emotions)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· Translate · Respond in original language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🇬🇧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2468880" cy="640080"/>
          </a:xfrm>
          <a:prstGeom prst="rect">
            <a:avLst/>
          </a:prstGeom>
          <a:solidFill>
            <a:srgbClr val="D9FFF6"/>
          </a:solidFill>
          <a:ln w="6350">
            <a:solidFill>
              <a:srgbClr val="C9EF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84832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so lost and alone today…"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 — no translation needed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7432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🇸🇦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02336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العربية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691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2057400"/>
            <a:ext cx="2468880" cy="640080"/>
          </a:xfrm>
          <a:prstGeom prst="rect">
            <a:avLst/>
          </a:prstGeom>
          <a:solidFill>
            <a:srgbClr val="D9FFF6"/>
          </a:solidFill>
          <a:ln w="6350">
            <a:solidFill>
              <a:srgbClr val="C9EF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084832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"أنا حزين جداً ومش عارف أكمل…"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Arabic Unicode range (U+0600-U+06FF)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7432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🇫🇷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9494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691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2057400"/>
            <a:ext cx="2468880" cy="640080"/>
          </a:xfrm>
          <a:prstGeom prst="rect">
            <a:avLst/>
          </a:prstGeom>
          <a:solidFill>
            <a:srgbClr val="D9FFF6"/>
          </a:solidFill>
          <a:ln w="6350">
            <a:solidFill>
              <a:srgbClr val="C9EF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084832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me sens tellement seul et perdu…"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2834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French keyword regex pattern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(any lang)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91640" y="4251960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10512" y="4133088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10512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36392" y="4251960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▶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4133088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55264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81144" y="4251960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0016" y="4133088"/>
            <a:ext cx="1325880" cy="457200"/>
          </a:xfrm>
          <a:prstGeom prst="rect">
            <a:avLst/>
          </a:prstGeom>
          <a:solidFill>
            <a:srgbClr val="5EEAD4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0016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English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25896" y="4251960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4768" y="4133088"/>
            <a:ext cx="1325880" cy="457200"/>
          </a:xfrm>
          <a:prstGeom prst="rect">
            <a:avLst/>
          </a:prstGeom>
          <a:solidFill>
            <a:srgbClr val="0D9488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44768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70648" y="4251960"/>
            <a:ext cx="118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89520" y="4133088"/>
            <a:ext cx="132588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589520" y="413308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 orig. lang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Response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context-aware mental health conversations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1A3D34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cbr_engine.py Works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947672"/>
            <a:ext cx="54864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8745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756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over all retained cases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423160"/>
            <a:ext cx="54864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500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25511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with cases table (id, input, response, emotion)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898648"/>
            <a:ext cx="54864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82549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0266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 saves (input, response, emotion) — index auto-rebuilds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374136"/>
            <a:ext cx="54864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30098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5021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matching case returned; fallback to canned responses.py library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849624"/>
            <a:ext cx="54864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77647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39776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responses.py library has 200+ curated therapeutic replies per emotion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4325112"/>
            <a:ext cx="54864" cy="2011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25196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44531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83.7% emotion detection drives precise case retrieval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CBR Query (Python)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1600200"/>
            <a:ext cx="4069080" cy="2103120"/>
          </a:xfrm>
          <a:prstGeom prst="rect">
            <a:avLst/>
          </a:prstGeom>
          <a:solidFill>
            <a:srgbClr val="0A1E1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1691640"/>
            <a:ext cx="37947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cbr_query(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user_input=user_text,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ui_lang=ui_lang,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debug=False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result["response"]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  = result["emotion"]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warm CBR reply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detected language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54880" y="3886200"/>
            <a:ext cx="1920240" cy="685800"/>
          </a:xfrm>
          <a:prstGeom prst="rect">
            <a:avLst/>
          </a:prstGeom>
          <a:solidFill>
            <a:srgbClr val="0D9488"/>
          </a:solidFill>
          <a:ln w="10160">
            <a:solidFill>
              <a:srgbClr val="C9EF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CBR Active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54880" y="4206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858000" y="3886200"/>
            <a:ext cx="1920240" cy="685800"/>
          </a:xfrm>
          <a:prstGeom prst="rect">
            <a:avLst/>
          </a:prstGeom>
          <a:solidFill>
            <a:srgbClr val="1A3D34"/>
          </a:solidFill>
          <a:ln w="10160">
            <a:solidFill>
              <a:srgbClr val="C9EF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0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Library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4206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reply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Learning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Reasoning — the bot learns from every 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99339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447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finds the most similar past case from the SQLite database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32888" y="1280160"/>
            <a:ext cx="199339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14447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2888" y="20116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42616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from the best-matching case is returned directly to the user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0016" y="1280160"/>
            <a:ext cx="199339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4447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0016" y="20116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9744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retrieved response is tailored by emotion and returned in the user's language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67144" y="1280160"/>
            <a:ext cx="1993392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67144" y="144475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67144" y="20116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76872" y="237744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👍 saves the (input, response, emotion) triplet — index rebuilds automatically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214884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</a:rPr>
              <a:t>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98848" y="214884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65976" y="214884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</a:rPr>
              <a:t>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 —  cases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50208"/>
            <a:ext cx="8412480" cy="868680"/>
          </a:xfrm>
          <a:prstGeom prst="rect">
            <a:avLst/>
          </a:prstGeom>
          <a:solidFill>
            <a:srgbClr val="0F2A24"/>
          </a:solidFill>
          <a:ln w="10160">
            <a:solidFill>
              <a:srgbClr val="C9EF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416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INTEGER PK    User_Input TEXT    Cheerful_Response TEXT    Category TEXT    score REAL    approved INT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20240" cy="3886200"/>
          </a:xfrm>
          <a:prstGeom prst="rect">
            <a:avLst/>
          </a:prstGeom>
          <a:solidFill>
            <a:srgbClr val="D9FFF6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MindCare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737360" cy="18288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Language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0208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Type  /  🎤 Voice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4144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8620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CBR Active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82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Debug Mode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How it Works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12394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Clear Chat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6400800" cy="3886200"/>
          </a:xfrm>
          <a:prstGeom prst="rect">
            <a:avLst/>
          </a:prstGeom>
          <a:solidFill>
            <a:srgbClr val="EFFDF8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188720"/>
            <a:ext cx="50292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28016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990088" y="1216152"/>
            <a:ext cx="4480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I'm MindCare AI 🧠💙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here to listen — type or speak how you're feeling.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0" y="2267712"/>
            <a:ext cx="36576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22677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أنا حزين جداً ومش عارف أكمل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60320" y="2816352"/>
            <a:ext cx="50292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651760" y="2852928"/>
            <a:ext cx="4828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😢 Detected: sadness (91%)  🇸🇦 AR → EN  🟢 CBR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feel the weight in your words, and I want you to know that what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feeling is real and valid. You're not alone in this. 💙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423160" y="4645152"/>
            <a:ext cx="640080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0" y="46634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how you're feeling… 💬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138160" y="4663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👍 👎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Frontend / 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468880" cy="16459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mint-green CSS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Arabic support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ML &amp; NLP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468880" cy="16459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361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(TF-IDF + LogReg)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negation tagger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lemmatizer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backup detector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1155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CBR Engine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2468880" cy="16459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53619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case database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retrieval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 retention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0358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Languages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2468880" cy="16459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564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 (detection)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 (Google)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AR / FR UI strings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RTL direction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30358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Data &amp; Storage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3383280"/>
            <a:ext cx="2468880" cy="16459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4564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sqlite3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 (Kaggle)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(model + index)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 case retention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2926080"/>
            <a:ext cx="274320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30358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Voice Input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3383280"/>
            <a:ext cx="2468880" cy="16459"/>
          </a:xfrm>
          <a:prstGeom prst="rect">
            <a:avLst/>
          </a:prstGeom>
          <a:solidFill>
            <a:srgbClr val="C9EFE5"/>
          </a:solidFill>
          <a:ln w="12700">
            <a:solidFill>
              <a:srgbClr val="C9EF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4564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STT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MindCare 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 Bot — Emotionally Aware Mental Health Companion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83.7% emotion detection accuracy across 11 classes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13639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Full EN / AR / FR support with auto-translation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48386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CBR engine for warm, emotion-aware responses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8313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CBR system that learns from every positive interaction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1788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Optional voice input with graceful text fallback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Clean mint-green Streamlit UI with debug mode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548640"/>
            <a:ext cx="3017520" cy="4297680"/>
          </a:xfrm>
          <a:prstGeom prst="rect">
            <a:avLst/>
          </a:prstGeom>
          <a:solidFill>
            <a:srgbClr val="1A3D34"/>
          </a:solidFill>
          <a:ln w="10160">
            <a:solidFill>
              <a:srgbClr val="C9EF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💙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897880" y="155448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combines classical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with modern AI to build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helpful companion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mental wellness.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care, empathy,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lot of 💚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Cheerful Bot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MindCare AI – Cheerful Bot</dc:title>
  <dc:subject>PptxGenJS Presentation</dc:subject>
  <dc:creator>PptxGenJS</dc:creator>
  <cp:lastModifiedBy>PptxGenJS</cp:lastModifiedBy>
  <cp:revision>1</cp:revision>
  <dcterms:created xsi:type="dcterms:W3CDTF">2026-05-19T21:15:00Z</dcterms:created>
  <dcterms:modified xsi:type="dcterms:W3CDTF">2026-05-19T21:15:00Z</dcterms:modified>
</cp:coreProperties>
</file>